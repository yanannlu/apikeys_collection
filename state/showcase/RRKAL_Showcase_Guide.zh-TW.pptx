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411480"/>
            <a:ext cx="1508760" cy="310896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90E15"/>
                </a:solidFill>
                <a:latin typeface="Microsoft JhengHei"/>
              </a:rPr>
              <a:t>SHOWCASE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73152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4200" b="1">
                <a:solidFill>
                  <a:srgbClr val="EBF5FF"/>
                </a:solidFill>
                <a:latin typeface="Microsoft JhengHei"/>
              </a:rPr>
              <a:t>RuRuKa Asset Launcher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719072"/>
            <a:ext cx="77724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0">
                <a:solidFill>
                  <a:srgbClr val="9CB2C9"/>
                </a:solidFill>
                <a:latin typeface="Microsoft JhengHei"/>
              </a:rPr>
              <a:t>中午展示操作稿：真下載、真進度、本機輸出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423160"/>
            <a:ext cx="5303520" cy="3383280"/>
          </a:xfrm>
          <a:prstGeom prst="roundRect">
            <a:avLst/>
          </a:prstGeom>
          <a:solidFill>
            <a:srgbClr val="161F2B"/>
          </a:solidFill>
          <a:ln w="12700">
            <a:solidFill>
              <a:srgbClr val="304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697480"/>
            <a:ext cx="182880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38BDF8"/>
                </a:solidFill>
                <a:latin typeface="Microsoft JhengHei"/>
              </a:rPr>
              <a:t>展示主張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54680"/>
            <a:ext cx="4526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BF5FF"/>
                </a:solidFill>
                <a:latin typeface="Microsoft JhengHei"/>
              </a:defRPr>
            </a:pPr>
            <a:r>
              <a:t>不是假資料：先連公開 Socrata；若逾時會明確切到備援公開 CSV。</a:t>
            </a:r>
          </a:p>
          <a:p>
            <a:pPr>
              <a:spcAft>
                <a:spcPts val="800"/>
              </a:spcAft>
              <a:defRPr sz="1800">
                <a:solidFill>
                  <a:srgbClr val="EBF5FF"/>
                </a:solidFill>
                <a:latin typeface="Microsoft JhengHei"/>
              </a:defRPr>
            </a:pPr>
            <a:r>
              <a:t>不是假進度：有總大小才顯示 byte 百分比。</a:t>
            </a:r>
          </a:p>
          <a:p>
            <a:pPr>
              <a:spcAft>
                <a:spcPts val="800"/>
              </a:spcAft>
              <a:defRPr sz="1800">
                <a:solidFill>
                  <a:srgbClr val="EBF5FF"/>
                </a:solidFill>
                <a:latin typeface="Microsoft JhengHei"/>
              </a:defRPr>
            </a:pPr>
            <a:r>
              <a:t>展示輸出短路到使用者選擇的資料夾。</a:t>
            </a:r>
          </a:p>
          <a:p>
            <a:pPr>
              <a:spcAft>
                <a:spcPts val="800"/>
              </a:spcAft>
              <a:defRPr sz="1800">
                <a:solidFill>
                  <a:srgbClr val="EBF5FF"/>
                </a:solidFill>
                <a:latin typeface="Microsoft JhengHei"/>
              </a:defRPr>
            </a:pPr>
            <a:r>
              <a:t>產出 payload、manifest、SQLite .db 與 summary JSON。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868680"/>
            <a:ext cx="5212080" cy="5074920"/>
          </a:xfrm>
          <a:prstGeom prst="roundRect">
            <a:avLst/>
          </a:prstGeom>
          <a:solidFill>
            <a:srgbClr val="080C12"/>
          </a:solidFill>
          <a:ln w="12700">
            <a:solidFill>
              <a:srgbClr val="304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1234440"/>
            <a:ext cx="29260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38BDF8"/>
                </a:solidFill>
                <a:latin typeface="Microsoft JhengHei"/>
              </a:rPr>
              <a:t>GUI 操作入口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874519"/>
            <a:ext cx="4297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EBF5FF"/>
                </a:solidFill>
                <a:latin typeface="Microsoft JhengHei"/>
              </a:defRPr>
            </a:pPr>
            <a:r>
              <a:t>scripts\run_showcase_ui.cmd</a:t>
            </a:r>
          </a:p>
          <a:p>
            <a:pPr>
              <a:spcAft>
                <a:spcPts val="800"/>
              </a:spcAft>
              <a:defRPr sz="1700">
                <a:solidFill>
                  <a:srgbClr val="EBF5FF"/>
                </a:solidFill>
                <a:latin typeface="Microsoft JhengHei"/>
              </a:defRPr>
            </a:pPr>
            <a:r>
              <a:t>工具 &gt; 展示模式：下載資料到本機資料夾</a:t>
            </a:r>
          </a:p>
          <a:p>
            <a:pPr>
              <a:spcAft>
                <a:spcPts val="800"/>
              </a:spcAft>
              <a:defRPr sz="1700">
                <a:solidFill>
                  <a:srgbClr val="EBF5FF"/>
                </a:solidFill>
                <a:latin typeface="Microsoft JhengHei"/>
              </a:defRPr>
            </a:pPr>
            <a:r>
              <a:t>工具 &gt; 展示模式：大型 CSV 續傳下載</a:t>
            </a:r>
          </a:p>
          <a:p>
            <a:pPr>
              <a:spcAft>
                <a:spcPts val="800"/>
              </a:spcAft>
              <a:defRPr sz="1700">
                <a:solidFill>
                  <a:srgbClr val="EBF5FF"/>
                </a:solidFill>
                <a:latin typeface="Microsoft JhengHei"/>
              </a:defRPr>
            </a:pPr>
            <a:r>
              <a:t>完成後打開輸出資料夾檢查 .db / manifest / JSON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4389120"/>
            <a:ext cx="4251960" cy="822960"/>
          </a:xfrm>
          <a:prstGeom prst="roundRect">
            <a:avLst/>
          </a:prstGeom>
          <a:solidFill>
            <a:srgbClr val="1F2D3D"/>
          </a:solidFill>
          <a:ln w="12700">
            <a:solidFill>
              <a:srgbClr val="304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0288"/>
            <a:ext cx="36576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ACC15"/>
                </a:solidFill>
                <a:latin typeface="Microsoft JhengHei"/>
              </a:rPr>
              <a:t>不放未驗證截圖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92040"/>
            <a:ext cx="36576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9CB2C9"/>
                </a:solidFill>
                <a:latin typeface="Microsoft JhengHei"/>
              </a:rPr>
              <a:t>第一頁只保留可操作入口，避免用錯 IDE 截圖誤導展示。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64008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400" b="1">
                <a:solidFill>
                  <a:srgbClr val="EBF5FF"/>
                </a:solidFill>
                <a:latin typeface="Microsoft JhengHei"/>
              </a:rPr>
              <a:t>本次展示已實作的閉環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9CB2C9"/>
                </a:solidFill>
                <a:latin typeface="Microsoft JhengHei"/>
              </a:rPr>
              <a:t>這次只展示已接上 GUI、可重跑、可驗證輸出的功能；仍在開發中的路徑不放進主流程。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874519" cy="2148840"/>
          </a:xfrm>
          <a:prstGeom prst="roundRect">
            <a:avLst/>
          </a:prstGeom>
          <a:solidFill>
            <a:srgbClr val="1F2D3D"/>
          </a:solidFill>
          <a:ln w="12700">
            <a:solidFill>
              <a:srgbClr val="304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2039112"/>
            <a:ext cx="347472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38BDF8"/>
                </a:solidFill>
                <a:latin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542032"/>
            <a:ext cx="150876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EBF5FF"/>
                </a:solidFill>
                <a:latin typeface="Microsoft JhengHei"/>
              </a:rPr>
              <a:t>選擇資料夾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971800"/>
            <a:ext cx="150876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9CB2C9"/>
                </a:solidFill>
                <a:latin typeface="Microsoft JhengHei"/>
              </a:rPr>
              <a:t>預設 Downloads，也可選雲端資料夾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60320" y="2907792"/>
            <a:ext cx="292608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26080" y="1874519"/>
            <a:ext cx="1874519" cy="2148840"/>
          </a:xfrm>
          <a:prstGeom prst="roundRect">
            <a:avLst/>
          </a:prstGeom>
          <a:solidFill>
            <a:srgbClr val="1F2D3D"/>
          </a:solidFill>
          <a:ln w="12700">
            <a:solidFill>
              <a:srgbClr val="304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90672" y="2039112"/>
            <a:ext cx="347472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38BDF8"/>
                </a:solidFill>
                <a:latin typeface="Microsoft Jheng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0672" y="2542032"/>
            <a:ext cx="150876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EBF5FF"/>
                </a:solidFill>
                <a:latin typeface="Microsoft JhengHei"/>
              </a:rPr>
              <a:t>設定筆數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0672" y="2971800"/>
            <a:ext cx="150876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9CB2C9"/>
                </a:solidFill>
                <a:latin typeface="Microsoft JhengHei"/>
              </a:rPr>
              <a:t>由操作者決定小樣本大小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00600" y="2907792"/>
            <a:ext cx="292608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66360" y="1874519"/>
            <a:ext cx="1874519" cy="2148840"/>
          </a:xfrm>
          <a:prstGeom prst="roundRect">
            <a:avLst/>
          </a:prstGeom>
          <a:solidFill>
            <a:srgbClr val="1F2D3D"/>
          </a:solidFill>
          <a:ln w="12700">
            <a:solidFill>
              <a:srgbClr val="304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0952" y="2039112"/>
            <a:ext cx="347472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38BDF8"/>
                </a:solidFill>
                <a:latin typeface="Microsoft Jheng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0952" y="2542032"/>
            <a:ext cx="150876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EBF5FF"/>
                </a:solidFill>
                <a:latin typeface="Microsoft JhengHei"/>
              </a:rPr>
              <a:t>真實下載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952" y="2971800"/>
            <a:ext cx="150876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9CB2C9"/>
                </a:solidFill>
                <a:latin typeface="Microsoft JhengHei"/>
              </a:rPr>
              <a:t>公開 Socrata rows API；逾時則備援公開 CSV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40880" y="2907792"/>
            <a:ext cx="292608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06640" y="1874519"/>
            <a:ext cx="1874519" cy="2148840"/>
          </a:xfrm>
          <a:prstGeom prst="roundRect">
            <a:avLst/>
          </a:prstGeom>
          <a:solidFill>
            <a:srgbClr val="1F2D3D"/>
          </a:solidFill>
          <a:ln w="12700">
            <a:solidFill>
              <a:srgbClr val="304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71232" y="2039112"/>
            <a:ext cx="347472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38BDF8"/>
                </a:solidFill>
                <a:latin typeface="Microsoft Jheng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71232" y="2542032"/>
            <a:ext cx="150876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EBF5FF"/>
                </a:solidFill>
                <a:latin typeface="Microsoft JhengHei"/>
              </a:rPr>
              <a:t>寫入 manifest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71232" y="2971800"/>
            <a:ext cx="150876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9CB2C9"/>
                </a:solidFill>
                <a:latin typeface="Microsoft JhengHei"/>
              </a:rPr>
              <a:t>保留來源與完整性紀錄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281160" y="2907792"/>
            <a:ext cx="292608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646920" y="1874519"/>
            <a:ext cx="1874519" cy="2148840"/>
          </a:xfrm>
          <a:prstGeom prst="roundRect">
            <a:avLst/>
          </a:prstGeom>
          <a:solidFill>
            <a:srgbClr val="1F2D3D"/>
          </a:solidFill>
          <a:ln w="12700">
            <a:solidFill>
              <a:srgbClr val="304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11512" y="2039112"/>
            <a:ext cx="347472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38BDF8"/>
                </a:solidFill>
                <a:latin typeface="Microsoft JhengHe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11512" y="2542032"/>
            <a:ext cx="150876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EBF5FF"/>
                </a:solidFill>
                <a:latin typeface="Microsoft JhengHei"/>
              </a:rPr>
              <a:t>匯入 .db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11512" y="2971800"/>
            <a:ext cx="150876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9CB2C9"/>
                </a:solidFill>
                <a:latin typeface="Microsoft JhengHei"/>
              </a:rPr>
              <a:t>生成 curated_showcase.db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709160"/>
            <a:ext cx="10652760" cy="1051560"/>
          </a:xfrm>
          <a:prstGeom prst="roundRect">
            <a:avLst/>
          </a:prstGeom>
          <a:solidFill>
            <a:srgbClr val="121C27"/>
          </a:solidFill>
          <a:ln w="12700">
            <a:solidFill>
              <a:srgbClr val="304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919472"/>
            <a:ext cx="10972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38BDF8"/>
                </a:solidFill>
                <a:latin typeface="Microsoft JhengHei"/>
              </a:rPr>
              <a:t>現況口徑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4892040"/>
            <a:ext cx="87782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EBF5FF"/>
                </a:solidFill>
                <a:latin typeface="Microsoft JhengHei"/>
              </a:rPr>
              <a:t>目前已能從 GUI 觸發公開來源下載，輸出 payload、manifest、SQLite .db 與 summary JSON。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4864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400" b="1">
                <a:solidFill>
                  <a:srgbClr val="EBF5FF"/>
                </a:solidFill>
                <a:latin typeface="Microsoft JhengHei"/>
              </a:rPr>
              <a:t>現場操作腳本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EBF5FF"/>
                </a:solidFill>
                <a:latin typeface="Microsoft JhengHei"/>
              </a:defRPr>
            </a:pPr>
            <a:r>
              <a:t>1. 執行 scripts\run_showcase_ui.cmd，打開 RRKAL Tk 介面。</a:t>
            </a:r>
          </a:p>
          <a:p>
            <a:pPr>
              <a:spcAft>
                <a:spcPts val="800"/>
              </a:spcAft>
              <a:defRPr sz="1900">
                <a:solidFill>
                  <a:srgbClr val="EBF5FF"/>
                </a:solidFill>
                <a:latin typeface="Microsoft JhengHei"/>
              </a:defRPr>
            </a:pPr>
            <a:r>
              <a:t>2. 進入「工具 / 展示模式：下載資料到本機資料夾」。</a:t>
            </a:r>
          </a:p>
          <a:p>
            <a:pPr>
              <a:spcAft>
                <a:spcPts val="800"/>
              </a:spcAft>
              <a:defRPr sz="1900">
                <a:solidFill>
                  <a:srgbClr val="EBF5FF"/>
                </a:solidFill>
                <a:latin typeface="Microsoft JhengHei"/>
              </a:defRPr>
            </a:pPr>
            <a:r>
              <a:t>3. 選擇輸出資料夾；預設使用系統 Downloads。</a:t>
            </a:r>
          </a:p>
          <a:p>
            <a:pPr>
              <a:spcAft>
                <a:spcPts val="800"/>
              </a:spcAft>
              <a:defRPr sz="1900">
                <a:solidFill>
                  <a:srgbClr val="EBF5FF"/>
                </a:solidFill>
                <a:latin typeface="Microsoft JhengHei"/>
              </a:defRPr>
            </a:pPr>
            <a:r>
              <a:t>4. 輸入樣本筆數，例如 100；要壓力測試可調大。</a:t>
            </a:r>
          </a:p>
          <a:p>
            <a:pPr>
              <a:spcAft>
                <a:spcPts val="800"/>
              </a:spcAft>
              <a:defRPr sz="1900">
                <a:solidFill>
                  <a:srgbClr val="EBF5FF"/>
                </a:solidFill>
                <a:latin typeface="Microsoft JhengHei"/>
              </a:defRPr>
            </a:pPr>
            <a:r>
              <a:t>5. 觀察進度視窗：百分比、目前階段、bytes 狀態；若來源逾時會顯示備援切換。</a:t>
            </a:r>
          </a:p>
          <a:p>
            <a:pPr>
              <a:spcAft>
                <a:spcPts val="800"/>
              </a:spcAft>
              <a:defRPr sz="1900">
                <a:solidFill>
                  <a:srgbClr val="EBF5FF"/>
                </a:solidFill>
                <a:latin typeface="Microsoft JhengHei"/>
              </a:defRPr>
            </a:pPr>
            <a:r>
              <a:t>6. 完成後打開輸出資料夾，展示 .db、manifest、summary JSON。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20840" y="1234440"/>
            <a:ext cx="4343400" cy="4206240"/>
          </a:xfrm>
          <a:prstGeom prst="roundRect">
            <a:avLst/>
          </a:prstGeom>
          <a:solidFill>
            <a:srgbClr val="1F2D3D"/>
          </a:solidFill>
          <a:ln w="12700">
            <a:solidFill>
              <a:srgbClr val="304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86600" y="1572768"/>
            <a:ext cx="32918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FACC15"/>
                </a:solidFill>
                <a:latin typeface="Microsoft JhengHei"/>
              </a:rPr>
              <a:t>不要現場改程式碼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86600" y="2148840"/>
            <a:ext cx="347472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EBF5FF"/>
                </a:solidFill>
                <a:latin typeface="Microsoft JhengHei"/>
              </a:rPr>
              <a:t>展示模式已包進 GUI。組員只需要看操作流程與輸出結果，不需要接觸 repo、CLI 或測試檔。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6600" y="3657600"/>
            <a:ext cx="34747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1">
                <a:solidFill>
                  <a:srgbClr val="38BDF8"/>
                </a:solidFill>
                <a:latin typeface="Microsoft JhengHei"/>
              </a:rPr>
              <a:t>建議展示筆數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0" y="4041648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CB2C9"/>
                </a:solidFill>
                <a:latin typeface="Microsoft JhengHei"/>
              </a:defRPr>
            </a:pPr>
            <a:r>
              <a:t>100：穩定快速</a:t>
            </a:r>
          </a:p>
          <a:p>
            <a:pPr>
              <a:spcAft>
                <a:spcPts val="800"/>
              </a:spcAft>
              <a:defRPr sz="1500">
                <a:solidFill>
                  <a:srgbClr val="9CB2C9"/>
                </a:solidFill>
                <a:latin typeface="Microsoft JhengHei"/>
              </a:defRPr>
            </a:pPr>
            <a:r>
              <a:t>1,000：較有感</a:t>
            </a:r>
          </a:p>
          <a:p>
            <a:pPr>
              <a:spcAft>
                <a:spcPts val="800"/>
              </a:spcAft>
              <a:defRPr sz="1500">
                <a:solidFill>
                  <a:srgbClr val="9CB2C9"/>
                </a:solidFill>
                <a:latin typeface="Microsoft JhengHei"/>
              </a:defRPr>
            </a:pPr>
            <a:r>
              <a:t>10,000+：看網路與來源回應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4864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400" b="1">
                <a:solidFill>
                  <a:srgbClr val="EBF5FF"/>
                </a:solidFill>
                <a:latin typeface="Microsoft JhengHei"/>
              </a:rPr>
              <a:t>進度條不是假的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0584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9CB2C9"/>
                </a:solidFill>
                <a:latin typeface="Microsoft JhengHei"/>
              </a:rPr>
              <a:t>GUI 顯示的百分比來自兩種可驗證訊號：流程階段與 HTTP byte 進度。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554480"/>
            <a:ext cx="5212080" cy="4297680"/>
          </a:xfrm>
          <a:prstGeom prst="roundRect">
            <a:avLst/>
          </a:prstGeom>
          <a:solidFill>
            <a:srgbClr val="1F2D3D"/>
          </a:solidFill>
          <a:ln w="12700">
            <a:solidFill>
              <a:srgbClr val="304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828800"/>
            <a:ext cx="21945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38BDF8"/>
                </a:solidFill>
                <a:latin typeface="Microsoft JhengHei"/>
              </a:rPr>
              <a:t>流程百分比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8992" y="2514600"/>
            <a:ext cx="4160520" cy="164592"/>
          </a:xfrm>
          <a:prstGeom prst="roundRect">
            <a:avLst/>
          </a:prstGeom>
          <a:solidFill>
            <a:srgbClr val="2D3848"/>
          </a:solidFill>
          <a:ln w="12700">
            <a:solidFill>
              <a:srgbClr val="2D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78992" y="2514600"/>
            <a:ext cx="208026" cy="164592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194560"/>
            <a:ext cx="41605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9CB2C9"/>
                </a:solidFill>
                <a:latin typeface="Microsoft JhengHei"/>
              </a:rPr>
              <a:t>準備資料夾 5%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8992" y="2971800"/>
            <a:ext cx="4160520" cy="164592"/>
          </a:xfrm>
          <a:prstGeom prst="roundRect">
            <a:avLst/>
          </a:prstGeom>
          <a:solidFill>
            <a:srgbClr val="2D3848"/>
          </a:solidFill>
          <a:ln w="12700">
            <a:solidFill>
              <a:srgbClr val="2D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78992" y="2971800"/>
            <a:ext cx="1040130" cy="164592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651760"/>
            <a:ext cx="41605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9CB2C9"/>
                </a:solidFill>
                <a:latin typeface="Microsoft JhengHei"/>
              </a:rPr>
              <a:t>解析計畫 25%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8992" y="3429000"/>
            <a:ext cx="4160520" cy="164592"/>
          </a:xfrm>
          <a:prstGeom prst="roundRect">
            <a:avLst/>
          </a:prstGeom>
          <a:solidFill>
            <a:srgbClr val="2D3848"/>
          </a:solidFill>
          <a:ln w="12700">
            <a:solidFill>
              <a:srgbClr val="2D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78992" y="3429000"/>
            <a:ext cx="1456182" cy="164592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108960"/>
            <a:ext cx="41605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9CB2C9"/>
                </a:solidFill>
                <a:latin typeface="Microsoft JhengHei"/>
              </a:rPr>
              <a:t>開始下載 35%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78992" y="3886200"/>
            <a:ext cx="4160520" cy="164592"/>
          </a:xfrm>
          <a:prstGeom prst="roundRect">
            <a:avLst/>
          </a:prstGeom>
          <a:solidFill>
            <a:srgbClr val="2D3848"/>
          </a:solidFill>
          <a:ln w="12700">
            <a:solidFill>
              <a:srgbClr val="2D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78992" y="3886200"/>
            <a:ext cx="3411626" cy="164592"/>
          </a:xfrm>
          <a:prstGeom prst="roundRect">
            <a:avLst/>
          </a:prstGeom>
          <a:solidFill>
            <a:srgbClr val="4ADE80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3566160"/>
            <a:ext cx="41605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9CB2C9"/>
                </a:solidFill>
                <a:latin typeface="Microsoft JhengHei"/>
              </a:rPr>
              <a:t>下載與匯入完成 82%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8992" y="4343400"/>
            <a:ext cx="4160520" cy="164592"/>
          </a:xfrm>
          <a:prstGeom prst="roundRect">
            <a:avLst/>
          </a:prstGeom>
          <a:solidFill>
            <a:srgbClr val="2D3848"/>
          </a:solidFill>
          <a:ln w="12700">
            <a:solidFill>
              <a:srgbClr val="2D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78992" y="4343400"/>
            <a:ext cx="4160520" cy="164592"/>
          </a:xfrm>
          <a:prstGeom prst="roundRect">
            <a:avLst/>
          </a:prstGeom>
          <a:solidFill>
            <a:srgbClr val="4ADE80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4023360"/>
            <a:ext cx="41605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9CB2C9"/>
                </a:solidFill>
                <a:latin typeface="Microsoft JhengHei"/>
              </a:rPr>
              <a:t>完成 100%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1554480"/>
            <a:ext cx="4709160" cy="4297680"/>
          </a:xfrm>
          <a:prstGeom prst="roundRect">
            <a:avLst/>
          </a:prstGeom>
          <a:solidFill>
            <a:srgbClr val="1F2D3D"/>
          </a:solidFill>
          <a:ln w="12700">
            <a:solidFill>
              <a:srgbClr val="304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1828800"/>
            <a:ext cx="25603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38BDF8"/>
                </a:solidFill>
                <a:latin typeface="Microsoft JhengHei"/>
              </a:rPr>
              <a:t>byte 百分比規則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2423160"/>
            <a:ext cx="37947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BF5FF"/>
                </a:solidFill>
                <a:latin typeface="Microsoft JhengHei"/>
              </a:defRPr>
            </a:pPr>
            <a:r>
              <a:t>遠端提供 Content-Length：顯示真下載百分比。</a:t>
            </a:r>
          </a:p>
          <a:p>
            <a:pPr>
              <a:spcAft>
                <a:spcPts val="800"/>
              </a:spcAft>
              <a:defRPr sz="1800">
                <a:solidFill>
                  <a:srgbClr val="EBF5FF"/>
                </a:solidFill>
                <a:latin typeface="Microsoft JhengHei"/>
              </a:defRPr>
            </a:pPr>
            <a:r>
              <a:t>遠端沒有總大小：顯示已接收 bytes，不假裝知道總量。</a:t>
            </a:r>
          </a:p>
          <a:p>
            <a:pPr>
              <a:spcAft>
                <a:spcPts val="800"/>
              </a:spcAft>
              <a:defRPr sz="1800">
                <a:solidFill>
                  <a:srgbClr val="EBF5FF"/>
                </a:solidFill>
                <a:latin typeface="Microsoft JhengHei"/>
              </a:defRPr>
            </a:pPr>
            <a:r>
              <a:t>主要公開來源逾時：顯示錯誤並切到備援公開 CSV，不偽裝成功。</a:t>
            </a:r>
          </a:p>
          <a:p>
            <a:pPr>
              <a:spcAft>
                <a:spcPts val="800"/>
              </a:spcAft>
              <a:defRPr sz="1800">
                <a:solidFill>
                  <a:srgbClr val="EBF5FF"/>
                </a:solidFill>
                <a:latin typeface="Microsoft JhengHei"/>
              </a:defRPr>
            </a:pPr>
            <a:r>
              <a:t>完成後用 manifest 與 SQLite 筆數證明成果。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4754880"/>
            <a:ext cx="3749039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FACC15"/>
                </a:solidFill>
                <a:latin typeface="Microsoft JhengHei"/>
              </a:rPr>
              <a:t>展示說法：我們寧可說「總大小未知」，也不要做假的 87%。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9436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400" b="1">
                <a:solidFill>
                  <a:srgbClr val="EBF5FF"/>
                </a:solidFill>
                <a:latin typeface="Microsoft JhengHei"/>
              </a:rPr>
              <a:t>完成後要展示的輸出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325880"/>
            <a:ext cx="10424160" cy="822960"/>
          </a:xfrm>
          <a:prstGeom prst="roundRect">
            <a:avLst/>
          </a:prstGeom>
          <a:solidFill>
            <a:srgbClr val="1F2D3D"/>
          </a:solidFill>
          <a:ln w="12700">
            <a:solidFill>
              <a:srgbClr val="304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51560" y="1545336"/>
            <a:ext cx="1508760" cy="310896"/>
          </a:xfrm>
          <a:prstGeom prst="roundRect">
            <a:avLst/>
          </a:prstGeom>
          <a:solidFill>
            <a:srgbClr val="4ADE80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90E15"/>
                </a:solidFill>
                <a:latin typeface="Microsoft JhengHe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490472"/>
            <a:ext cx="34747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EBF5FF"/>
                </a:solidFill>
                <a:latin typeface="Microsoft JhengHei"/>
              </a:rPr>
              <a:t>curated_showcase.db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4920" y="1517904"/>
            <a:ext cx="53949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9CB2C9"/>
                </a:solidFill>
                <a:latin typeface="Microsoft JhengHei"/>
              </a:rPr>
              <a:t>本機 SQLite 資料庫，可展示資料真的已匯入。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468880"/>
            <a:ext cx="10424160" cy="822960"/>
          </a:xfrm>
          <a:prstGeom prst="roundRect">
            <a:avLst/>
          </a:prstGeom>
          <a:solidFill>
            <a:srgbClr val="1F2D3D"/>
          </a:solidFill>
          <a:ln w="12700">
            <a:solidFill>
              <a:srgbClr val="304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1560" y="2688336"/>
            <a:ext cx="1508760" cy="310896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90E15"/>
                </a:solidFill>
                <a:latin typeface="Microsoft Jheng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633472"/>
            <a:ext cx="34747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EBF5FF"/>
                </a:solidFill>
                <a:latin typeface="Microsoft JhengHei"/>
              </a:rPr>
              <a:t>downloads / manifest.json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2660904"/>
            <a:ext cx="53949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9CB2C9"/>
                </a:solidFill>
                <a:latin typeface="Microsoft JhengHei"/>
              </a:rPr>
              <a:t>原始 payload 與完整性邊車紀錄。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611880"/>
            <a:ext cx="10424160" cy="822960"/>
          </a:xfrm>
          <a:prstGeom prst="roundRect">
            <a:avLst/>
          </a:prstGeom>
          <a:solidFill>
            <a:srgbClr val="1F2D3D"/>
          </a:solidFill>
          <a:ln w="12700">
            <a:solidFill>
              <a:srgbClr val="304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51560" y="3831336"/>
            <a:ext cx="1508760" cy="310896"/>
          </a:xfrm>
          <a:prstGeom prst="roundRect">
            <a:avLst/>
          </a:prstGeom>
          <a:solidFill>
            <a:srgbClr val="FACC15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90E15"/>
                </a:solidFill>
                <a:latin typeface="Microsoft Jheng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776472"/>
            <a:ext cx="34747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EBF5FF"/>
                </a:solidFill>
                <a:latin typeface="Microsoft JhengHei"/>
              </a:rPr>
              <a:t>showcase_download_summary.json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3803904"/>
            <a:ext cx="53949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9CB2C9"/>
                </a:solidFill>
                <a:latin typeface="Microsoft JhengHei"/>
              </a:rPr>
              <a:t>機器可讀的展示結果摘要。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754880"/>
            <a:ext cx="10424160" cy="822960"/>
          </a:xfrm>
          <a:prstGeom prst="roundRect">
            <a:avLst/>
          </a:prstGeom>
          <a:solidFill>
            <a:srgbClr val="1F2D3D"/>
          </a:solidFill>
          <a:ln w="12700">
            <a:solidFill>
              <a:srgbClr val="304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51560" y="4974336"/>
            <a:ext cx="1508760" cy="310896"/>
          </a:xfrm>
          <a:prstGeom prst="roundRect">
            <a:avLst/>
          </a:prstGeom>
          <a:solidFill>
            <a:srgbClr val="F87171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90E15"/>
                </a:solidFill>
                <a:latin typeface="Microsoft JhengHe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919472"/>
            <a:ext cx="34747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EBF5FF"/>
                </a:solidFill>
                <a:latin typeface="Microsoft JhengHei"/>
              </a:rPr>
              <a:t>socrata_311.resolved.json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4946904"/>
            <a:ext cx="53949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9CB2C9"/>
                </a:solidFill>
                <a:latin typeface="Microsoft JhengHei"/>
              </a:rPr>
              <a:t>可稽核的轉接計畫結果。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989320"/>
            <a:ext cx="100584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9CB2C9"/>
                </a:solidFill>
                <a:latin typeface="Microsoft JhengHei"/>
              </a:rPr>
              <a:t>輸出路徑固定在「你選的資料夾 / RuRuKa Asset Launcher Showcase」。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9436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400" b="1">
                <a:solidFill>
                  <a:srgbClr val="EBF5FF"/>
                </a:solidFill>
                <a:latin typeface="Microsoft JhengHei"/>
              </a:rPr>
              <a:t>已完成 / 未完成邊界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5303520" cy="4526280"/>
          </a:xfrm>
          <a:prstGeom prst="roundRect">
            <a:avLst/>
          </a:prstGeom>
          <a:solidFill>
            <a:srgbClr val="1F2D3D"/>
          </a:solidFill>
          <a:ln w="12700">
            <a:solidFill>
              <a:srgbClr val="304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554480"/>
            <a:ext cx="25603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4ADE80"/>
                </a:solidFill>
                <a:latin typeface="Microsoft JhengHei"/>
              </a:rPr>
              <a:t>已完成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148840"/>
            <a:ext cx="4389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EBF5FF"/>
                </a:solidFill>
                <a:latin typeface="Microsoft JhengHei"/>
              </a:defRPr>
            </a:pPr>
            <a:r>
              <a:t>GUI 展示入口已接上。</a:t>
            </a:r>
          </a:p>
          <a:p>
            <a:pPr>
              <a:spcAft>
                <a:spcPts val="800"/>
              </a:spcAft>
              <a:defRPr sz="1900">
                <a:solidFill>
                  <a:srgbClr val="EBF5FF"/>
                </a:solidFill>
                <a:latin typeface="Microsoft JhengHei"/>
              </a:defRPr>
            </a:pPr>
            <a:r>
              <a:t>樣本筆數可由操作者控制。</a:t>
            </a:r>
          </a:p>
          <a:p>
            <a:pPr>
              <a:spcAft>
                <a:spcPts val="800"/>
              </a:spcAft>
              <a:defRPr sz="1900">
                <a:solidFill>
                  <a:srgbClr val="EBF5FF"/>
                </a:solidFill>
                <a:latin typeface="Microsoft JhengHei"/>
              </a:defRPr>
            </a:pPr>
            <a:r>
              <a:t>可產出本機 .db、manifest、summary JSON。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4343400"/>
            <a:ext cx="43434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900" b="0">
                <a:solidFill>
                  <a:srgbClr val="FACC15"/>
                </a:solidFill>
                <a:latin typeface="Microsoft JhengHei"/>
              </a:rPr>
              <a:t>現場重點：打開 GUI、按展示下載、檢查輸出檔。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234440"/>
            <a:ext cx="4663440" cy="4526280"/>
          </a:xfrm>
          <a:prstGeom prst="roundRect">
            <a:avLst/>
          </a:prstGeom>
          <a:solidFill>
            <a:srgbClr val="1F2D3D"/>
          </a:solidFill>
          <a:ln w="12700">
            <a:solidFill>
              <a:srgbClr val="304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12280" y="1554480"/>
            <a:ext cx="283464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38BDF8"/>
                </a:solidFill>
                <a:latin typeface="Microsoft JhengHei"/>
              </a:rPr>
              <a:t>本次不展示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2148840"/>
            <a:ext cx="3840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EBF5FF"/>
                </a:solidFill>
                <a:latin typeface="Microsoft JhengHei"/>
              </a:defRPr>
            </a:pPr>
            <a:r>
              <a:t>全來源無界爬取仍需逐一補安全上限。</a:t>
            </a:r>
          </a:p>
          <a:p>
            <a:pPr>
              <a:spcAft>
                <a:spcPts val="800"/>
              </a:spcAft>
              <a:defRPr sz="1900">
                <a:solidFill>
                  <a:srgbClr val="EBF5FF"/>
                </a:solidFill>
                <a:latin typeface="Microsoft JhengHei"/>
              </a:defRPr>
            </a:pPr>
            <a:r>
              <a:t>MySQL/PostgreSQL 對接不在本次展示路徑。</a:t>
            </a:r>
          </a:p>
          <a:p>
            <a:pPr>
              <a:spcAft>
                <a:spcPts val="800"/>
              </a:spcAft>
              <a:defRPr sz="1900">
                <a:solidFill>
                  <a:srgbClr val="EBF5FF"/>
                </a:solidFill>
                <a:latin typeface="Microsoft JhengHei"/>
              </a:defRPr>
            </a:pPr>
            <a:r>
              <a:t>完整錯誤修復 UI 還在硬化。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4343400"/>
            <a:ext cx="384048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900" b="0">
                <a:solidFill>
                  <a:srgbClr val="EBF5FF"/>
                </a:solidFill>
                <a:latin typeface="Microsoft JhengHei"/>
              </a:rPr>
              <a:t>討論重點：目前展示線是否足夠說明進度，以及下一個要補細的功能。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